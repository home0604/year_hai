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81C21"/>
                </a:solidFill>
                <a:latin typeface="Malgun Gothic"/>
                <a:ea typeface="Malgun Gothic"/>
              </a:rPr>
              <a:t>안테나 마스크 역설계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목표 스펙트럼이 주어지면 그것을 만들어내는 10×10 이진 금속 마스크를 생성한다. 기존 접근은 autoregressive(AR) 모델이다. Flow model 로 같은 문제를 풀고 AR 과 비교하는 것이 이 발표의 범위다.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64240" cy="10972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03120"/>
            <a:ext cx="3566160" cy="86868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32369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8818B"/>
                </a:solidFill>
                <a:latin typeface="Consolas"/>
                <a:ea typeface="Consola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1401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C21"/>
                </a:solidFill>
                <a:latin typeface="Consolas"/>
                <a:ea typeface="Consolas"/>
              </a:rPr>
              <a:t>y ∈ R^201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70048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E464F"/>
                </a:solidFill>
                <a:latin typeface="Malgun Gothic"/>
                <a:ea typeface="Malgun Gothic"/>
              </a:rPr>
              <a:t>목표 S11 스펙트럼 (201 주파수점)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2103120"/>
            <a:ext cx="3566160" cy="86868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2212848"/>
            <a:ext cx="32369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8818B"/>
                </a:solidFill>
                <a:latin typeface="Consolas"/>
                <a:ea typeface="Consolas"/>
              </a:rPr>
              <a:t>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241401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C21"/>
                </a:solidFill>
                <a:latin typeface="Consolas"/>
                <a:ea typeface="Consolas"/>
              </a:rPr>
              <a:t>b ∈ {0,1}^100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2670048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E464F"/>
                </a:solidFill>
                <a:latin typeface="Malgun Gothic"/>
                <a:ea typeface="Malgun Gothic"/>
              </a:rPr>
              <a:t>10×10 이진 마스크 — 생성모델이 만든다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8703" y="2103120"/>
            <a:ext cx="3566160" cy="86868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5" y="2212848"/>
            <a:ext cx="32369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8818B"/>
                </a:solidFill>
                <a:latin typeface="Consolas"/>
                <a:ea typeface="Consolas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5" y="2414016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C21"/>
                </a:solidFill>
                <a:latin typeface="Consolas"/>
                <a:ea typeface="Consolas"/>
              </a:rPr>
              <a:t>ŷ = f_fwd(b)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5" y="2670048"/>
            <a:ext cx="32369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E464F"/>
                </a:solidFill>
                <a:latin typeface="Malgun Gothic"/>
                <a:ea typeface="Malgun Gothic"/>
              </a:rPr>
              <a:t>동결된 forward surrogate CNN 으로 재평가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154680"/>
            <a:ext cx="5486400" cy="178308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2826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81C21"/>
                </a:solidFill>
                <a:latin typeface="Malgun Gothic"/>
                <a:ea typeface="Malgun Gothic"/>
              </a:rPr>
              <a:t>문제의 성격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611880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E464F"/>
                </a:solidFill>
                <a:latin typeface="Malgun Gothic"/>
                <a:ea typeface="Malgun Gothic"/>
              </a:rPr>
              <a:t>• 정방향(마스크→스펙트럼)은 함수지만 역방향은 one-to-many — 같은 스펙트럼을 내는 마스크가 여러 개.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E464F"/>
                </a:solidFill>
                <a:latin typeface="Malgun Gothic"/>
                <a:ea typeface="Malgun Gothic"/>
              </a:rPr>
              <a:t>• 목표는 점추정이 아니라 조건부 분포 p(b|y) 의 샘플링. 생성모델이 필요한 이유.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E464F"/>
                </a:solidFill>
                <a:latin typeface="Malgun Gothic"/>
                <a:ea typeface="Malgun Gothic"/>
              </a:rPr>
              <a:t>• 데이터: train 167,430 / test 20,929 쌍.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3154680"/>
            <a:ext cx="5486400" cy="178308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3154680"/>
            <a:ext cx="5486400" cy="45720"/>
          </a:xfrm>
          <a:prstGeom prst="rect">
            <a:avLst/>
          </a:prstGeom>
          <a:solidFill>
            <a:srgbClr val="5C5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2826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C5471"/>
                </a:solidFill>
                <a:latin typeface="Malgun Gothic"/>
                <a:ea typeface="Malgun Gothic"/>
              </a:rPr>
              <a:t>Baseline — AR (snake ordering)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611880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E464F"/>
                </a:solidFill>
                <a:latin typeface="Malgun Gothic"/>
                <a:ea typeface="Malgun Gothic"/>
              </a:rPr>
              <a:t>• 비트를 snake 순서로 하나씩 예측: p(b)=∏ p(b_k | b_&lt;k, y).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E464F"/>
                </a:solidFill>
                <a:latin typeface="Malgun Gothic"/>
                <a:ea typeface="Malgun Gothic"/>
              </a:rPr>
              <a:t>• chain rule 을 정확히 따르므로 인수분해 오차가 없다.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3E464F"/>
                </a:solidFill>
                <a:latin typeface="Malgun Gothic"/>
                <a:ea typeface="Malgun Gothic"/>
              </a:rPr>
              <a:t>• 생성에 100 번의 순차 forward 가 필요하고, 병렬화되지 않는다.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074920"/>
            <a:ext cx="11064240" cy="777240"/>
          </a:xfrm>
          <a:prstGeom prst="rect">
            <a:avLst/>
          </a:prstGeom>
          <a:solidFill>
            <a:srgbClr val="DF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074920"/>
            <a:ext cx="45720" cy="777240"/>
          </a:xfrm>
          <a:prstGeom prst="rect">
            <a:avLst/>
          </a:prstGeom>
          <a:solidFill>
            <a:srgbClr val="2F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202936"/>
            <a:ext cx="10698480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Flow model 은 100 개 픽셀을 매 스텝 병렬로 갱신한다. 관심은 적은 스텝으로 AR 의 품질에 도달하는지다. 아래에서 두 접근을 본다 — CFM 연속 완화, DFM 이산 상태 유지.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APPROACH 1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81C21"/>
                </a:solidFill>
                <a:latin typeface="Malgun Gothic"/>
                <a:ea typeface="Malgun Gothic"/>
              </a:rPr>
              <a:t>CFM — 기존 vector field 프레임워크를 그대로 가져온다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이진 마스크를 연속값으로 완화한 뒤, 표준 Continuous Flow Matching 을 수정 없이 적용한다.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64240" cy="10972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03120"/>
            <a:ext cx="2651760" cy="82296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03704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Consolas"/>
                <a:ea typeface="Consola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957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81C21"/>
                </a:solidFill>
                <a:latin typeface="Consolas"/>
                <a:ea typeface="Consolas"/>
              </a:rPr>
              <a:t>x0 ~ N(0, 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334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E464F"/>
                </a:solidFill>
                <a:latin typeface="Malgun Gothic"/>
                <a:ea typeface="Malgun Gothic"/>
              </a:rPr>
              <a:t>표준 가우시안 노이즈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2103120"/>
            <a:ext cx="2651760" cy="82296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203704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Consolas"/>
                <a:ea typeface="Consolas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3957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81C21"/>
                </a:solidFill>
                <a:latin typeface="Consolas"/>
                <a:ea typeface="Consolas"/>
              </a:rPr>
              <a:t>x1 ~ q(x1)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6334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E464F"/>
                </a:solidFill>
                <a:latin typeface="Malgun Gothic"/>
                <a:ea typeface="Malgun Gothic"/>
              </a:rPr>
              <a:t>GT 데이터셋. {0,1}→{−1,+1}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103120"/>
            <a:ext cx="2651760" cy="82296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2203704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Consolas"/>
                <a:ea typeface="Consolas"/>
              </a:rPr>
              <a:t>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3957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81C21"/>
                </a:solidFill>
                <a:latin typeface="Consolas"/>
                <a:ea typeface="Consolas"/>
              </a:rPr>
              <a:t>직선 보간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6334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E464F"/>
                </a:solidFill>
                <a:latin typeface="Malgun Gothic"/>
                <a:ea typeface="Malgun Gothic"/>
              </a:rPr>
              <a:t>두 점을 직선으로 잇는다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6528" y="2103120"/>
            <a:ext cx="2651760" cy="82296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2203704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Consolas"/>
                <a:ea typeface="Consolas"/>
              </a:rP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3957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81C21"/>
                </a:solidFill>
                <a:latin typeface="Consolas"/>
                <a:ea typeface="Consolas"/>
              </a:rPr>
              <a:t>velocity 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6334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E464F"/>
                </a:solidFill>
                <a:latin typeface="Malgun Gothic"/>
                <a:ea typeface="Malgun Gothic"/>
              </a:rPr>
              <a:t>그 직선의 속도를 회귀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108960"/>
            <a:ext cx="5486400" cy="169164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108960"/>
            <a:ext cx="5486400" cy="45720"/>
          </a:xfrm>
          <a:prstGeom prst="rect">
            <a:avLst/>
          </a:prstGeom>
          <a:solidFill>
            <a:srgbClr val="25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236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C21"/>
                </a:solidFill>
                <a:latin typeface="Malgun Gothic"/>
                <a:ea typeface="Malgun Gothic"/>
              </a:rPr>
              <a:t>경로와 학습 대상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566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81C21"/>
                </a:solidFill>
                <a:latin typeface="Consolas"/>
                <a:ea typeface="Consolas"/>
              </a:rPr>
              <a:t>x_t = (1−t)·x0 + t·x1        u_t = x1 − x0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97764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E464F"/>
                </a:solidFill>
                <a:latin typeface="Malgun Gothic"/>
                <a:ea typeface="Malgun Gothic"/>
              </a:rPr>
              <a:t>모델은 v(x_t,t,y) 로 이 속도를 예측하고 MSE 회귀로 학습한다. 이진 구조에 대한 별도 처리는 없다 — 이미지 생성 CFM 과 동일.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3108960"/>
            <a:ext cx="5486400" cy="169164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6208" y="3108960"/>
            <a:ext cx="5486400" cy="45720"/>
          </a:xfrm>
          <a:prstGeom prst="rect">
            <a:avLst/>
          </a:prstGeom>
          <a:solidFill>
            <a:srgbClr val="25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2369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C21"/>
                </a:solidFill>
                <a:latin typeface="Malgun Gothic"/>
                <a:ea typeface="Malgun Gothic"/>
              </a:rPr>
              <a:t>Inference — 적분한 뒤 이산화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56616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E464F"/>
                </a:solidFill>
                <a:latin typeface="Malgun Gothic"/>
                <a:ea typeface="Malgun Gothic"/>
              </a:rPr>
              <a:t>• x0 ~ N(0,I) 에서 Euler 적분으로 t: 0→1.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E464F"/>
                </a:solidFill>
                <a:latin typeface="Malgun Gothic"/>
                <a:ea typeface="Malgun Gothic"/>
              </a:rPr>
              <a:t>• 도착한 x1 은 연속값 — 아직 이진 마스크가 아니다.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E464F"/>
                </a:solidFill>
                <a:latin typeface="Malgun Gothic"/>
                <a:ea typeface="Malgun Gothic"/>
              </a:rPr>
              <a:t>• 마지막에 0 을 기준으로 thresholding: bits = (x &gt; 0).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937760"/>
            <a:ext cx="11064240" cy="1051560"/>
          </a:xfrm>
          <a:prstGeom prst="rect">
            <a:avLst/>
          </a:prstGeom>
          <a:solidFill>
            <a:srgbClr val="F5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937760"/>
            <a:ext cx="45720" cy="105156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065776"/>
            <a:ext cx="10698480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이 CFM 은 이진 대상을 연속 완화로 다루는 접근의 baseline 이다. 핵심 문제는 이산성 우회에 있다: 데이터는 {0,1}^100 격자 위에 있는데 연속공간에서 풀고 마지막에 thresholding 으로 되돌린다. 그 과정에서 |x|(per-bit confidence)는 버려진다.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78818B"/>
                </a:solidFill>
                <a:latin typeface="Malgun Gothic"/>
                <a:ea typeface="Malgun Gothic"/>
              </a:rPr>
              <a:t>참고: 이 구현이 결정론적인 것은 sigma_min=0 이라 경로에 노이즈가 없기 때문 — CFM 자체 성질이 아니라 설계 선택. one-to-many/다양성은 이 baseline 의 축이 아니다.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APPROACH 1 ·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81C21"/>
                </a:solidFill>
                <a:latin typeface="Malgun Gothic"/>
                <a:ea typeface="Malgun Gothic"/>
              </a:rPr>
              <a:t>CFM — Training &amp;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flow_matching.py — cfm_loss / sample_fm_cfg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64240" cy="10972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C21"/>
                </a:solidFill>
                <a:latin typeface="Malgun Gothic"/>
                <a:ea typeface="Malgun Gothic"/>
              </a:rPr>
              <a:t>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14016"/>
            <a:ext cx="5486400" cy="2706624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505456"/>
            <a:ext cx="5230368" cy="2523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x1: (B,100) in {0,1} → {−1,+1}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x1 = xb * 2 - 1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1) 노이즈와 시간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x0 = torch.randn_like(x1)   # N(0,I)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t  = torch.rand(B)          # U(0,1)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2) 직선 경로 위의 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x_t = (1 - t) * x0 + t * x1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3) 회귀 타겟 = 직선의 속도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u_t = x1 - x0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4) MSE 회귀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v = model(x_t, t, y)        # out: R^100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loss = ((v - u_t) ** 2).mean()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103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C21"/>
                </a:solidFill>
                <a:latin typeface="Malgun Gothic"/>
                <a:ea typeface="Malgun Gothic"/>
              </a:rPr>
              <a:t>Sampling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414016"/>
            <a:ext cx="5486400" cy="2706624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505456"/>
            <a:ext cx="5230368" cy="2523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Euler ODE 적분, t: 0 → 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x  = torch.randn(B, 100)    # x0 ~ N(0,I)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dt = 1.0 / 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for i in range(N):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t = i * dt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v = model(x, t, y)      # velocity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x = x + v * dt          # clamp 없음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연속값 → 이진 마스크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bits = (x &gt; 0).long()       # thresholding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303520"/>
            <a:ext cx="11064240" cy="777240"/>
          </a:xfrm>
          <a:prstGeom prst="rect">
            <a:avLst/>
          </a:prstGeom>
          <a:solidFill>
            <a:srgbClr val="F5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303520"/>
            <a:ext cx="45720" cy="77724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431536"/>
            <a:ext cx="10698480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CFM 입력/출력:  x_t ∈ R^100 (연속), t, y  →  v ∈ R^100 velocity (확률 아님).  Loss = MSE.  Inference 끝에 thresholding 필요.  NFE = N (병렬).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APPROACH 2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81C21"/>
                </a:solidFill>
                <a:latin typeface="Malgun Gothic"/>
                <a:ea typeface="Malgun Gothic"/>
              </a:rPr>
              <a:t>DFM — 이산 상태를 유지한 채, 확률분포의 velocity field 를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각 픽셀의 vocab 을 {0,1} 로 정의하고, 모델이 상태의 확률분포를 직접 예측하게 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64240" cy="10972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03120"/>
            <a:ext cx="2651760" cy="786384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9456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Consolas"/>
                <a:ea typeface="Consolas"/>
              </a:rPr>
              <a:t>VOCAB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865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81C21"/>
                </a:solidFill>
                <a:latin typeface="Consolas"/>
                <a:ea typeface="Consolas"/>
              </a:rPr>
              <a:t>V = {0, 1}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243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픽셀당 2 심볼. 상태는 끝까지 이산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2103120"/>
            <a:ext cx="2651760" cy="786384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19456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Consolas"/>
                <a:ea typeface="Consolas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3865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81C21"/>
                </a:solidFill>
                <a:latin typeface="Consolas"/>
                <a:ea typeface="Consolas"/>
              </a:rPr>
              <a:t>p0 = Uniform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6243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균등분포에서 출발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103120"/>
            <a:ext cx="2651760" cy="786384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219456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Consolas"/>
                <a:ea typeface="Consolas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3865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81C21"/>
                </a:solidFill>
                <a:latin typeface="Consolas"/>
                <a:ea typeface="Consolas"/>
              </a:rPr>
              <a:t>p1 = q(x1)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26243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GT 데이터셋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6528" y="2103120"/>
            <a:ext cx="2651760" cy="786384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219456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Consolas"/>
                <a:ea typeface="Consolas"/>
              </a:rP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23865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81C21"/>
                </a:solidFill>
                <a:latin typeface="Consolas"/>
                <a:ea typeface="Consolas"/>
              </a:rPr>
              <a:t>확률의 velocity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6243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p0 → p1 로 나르는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035808"/>
            <a:ext cx="11064240" cy="137160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035808"/>
            <a:ext cx="11064240" cy="457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14553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C21"/>
                </a:solidFill>
                <a:latin typeface="Malgun Gothic"/>
                <a:ea typeface="Malgun Gothic"/>
              </a:rPr>
              <a:t>모델이 예측하는 것 (V=2) — 픽셀마다 확률을 내고, 거기서 {0,1} 을 뽑는다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3273552"/>
            <a:ext cx="8961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8818B"/>
                </a:solidFill>
                <a:latin typeface="Malgun Gothic"/>
                <a:ea typeface="Malgun Gothic"/>
              </a:rPr>
              <a:t>픽셀별 P(=금속)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493008"/>
            <a:ext cx="402336" cy="402336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34930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C21"/>
                </a:solidFill>
                <a:latin typeface="Consolas"/>
                <a:ea typeface="Consolas"/>
              </a:rPr>
              <a:t>0.90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1296" y="3493008"/>
            <a:ext cx="402336" cy="402336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4930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C21"/>
                </a:solidFill>
                <a:latin typeface="Consolas"/>
                <a:ea typeface="Consolas"/>
              </a:rPr>
              <a:t>0.20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895344"/>
            <a:ext cx="402336" cy="402336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38953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C21"/>
                </a:solidFill>
                <a:latin typeface="Consolas"/>
                <a:ea typeface="Consolas"/>
              </a:rPr>
              <a:t>0.80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11296" y="3895344"/>
            <a:ext cx="402336" cy="402336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11296" y="38953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81C21"/>
                </a:solidFill>
                <a:latin typeface="Consolas"/>
                <a:ea typeface="Consolas"/>
              </a:rPr>
              <a:t>0.70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50792" y="3712464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8818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9352" y="327355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8818B"/>
                </a:solidFill>
                <a:latin typeface="Malgun Gothic"/>
                <a:ea typeface="Malgun Gothic"/>
              </a:rPr>
              <a:t>샘플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3493008"/>
            <a:ext cx="402336" cy="402336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93208" y="3493008"/>
            <a:ext cx="402336" cy="402336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90872" y="3895344"/>
            <a:ext cx="402336" cy="402336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93208" y="3895344"/>
            <a:ext cx="402336" cy="402336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85385" y="3487521"/>
            <a:ext cx="815644" cy="815644"/>
          </a:xfrm>
          <a:prstGeom prst="rect">
            <a:avLst/>
          </a:prstGeom>
          <a:noFill/>
          <a:ln w="19050">
            <a:solidFill>
              <a:srgbClr val="A85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9432" y="4315968"/>
            <a:ext cx="9875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8818B"/>
                </a:solidFill>
                <a:latin typeface="Malgun Gothic"/>
                <a:ea typeface="Malgun Gothic"/>
              </a:rPr>
              <a:t>뽑힌 마스크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3447288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3E464F"/>
                </a:solidFill>
                <a:latin typeface="Malgun Gothic"/>
                <a:ea typeface="Malgun Gothic"/>
              </a:rPr>
              <a:t>이 픽셀별 확률 p₁|t(x₁|x_t) 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3E464F"/>
                </a:solidFill>
                <a:latin typeface="Malgun Gothic"/>
                <a:ea typeface="Malgun Gothic"/>
              </a:rPr>
              <a:t>아래 rate 를 결정한다.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78818B"/>
                </a:solidFill>
                <a:latin typeface="Malgun Gothic"/>
                <a:ea typeface="Malgun Gothic"/>
              </a:rPr>
              <a:t>(V=16 으로 묶는 법은 6 장)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544568"/>
            <a:ext cx="3566160" cy="137160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544568"/>
            <a:ext cx="3566160" cy="457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465429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1C21"/>
                </a:solidFill>
                <a:latin typeface="Malgun Gothic"/>
                <a:ea typeface="Malgun Gothic"/>
              </a:rPr>
              <a:t>1 · 조건부 경로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5001768"/>
            <a:ext cx="3273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5001768"/>
            <a:ext cx="32735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p_t(x|x1) = t·δ(x,x1) + (1−t)/V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5458968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확률 t 로 정답 유지, 아니면 uniform 재추출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24528" y="4544568"/>
            <a:ext cx="3566160" cy="137160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24528" y="4544568"/>
            <a:ext cx="3566160" cy="457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70832" y="465429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1C21"/>
                </a:solidFill>
                <a:latin typeface="Malgun Gothic"/>
                <a:ea typeface="Malgun Gothic"/>
              </a:rPr>
              <a:t>2 · Marginalization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70832" y="5001768"/>
            <a:ext cx="3273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70832" y="5001768"/>
            <a:ext cx="32735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p_t(x) = E_x1~q [ p_t(x|x1)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0832" y="5458968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균등분포 → 데이터분포 확률경로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82127" y="4544568"/>
            <a:ext cx="3566160" cy="137160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882127" y="4544568"/>
            <a:ext cx="3566160" cy="457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28431" y="465429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1C21"/>
                </a:solidFill>
                <a:latin typeface="Malgun Gothic"/>
                <a:ea typeface="Malgun Gothic"/>
              </a:rPr>
              <a:t>3 · Rate (denoiser 로 복원)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28431" y="5001768"/>
            <a:ext cx="327355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28431" y="5001768"/>
            <a:ext cx="32735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u_t = λ_t·[ p1|t(v|z) − δ(v,z) 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28431" y="5458968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모델은 사후확률만 예측, rate 는 거기서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APPROACH 2 ·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81C21"/>
                </a:solidFill>
                <a:latin typeface="Malgun Gothic"/>
                <a:ea typeface="Malgun Gothic"/>
              </a:rPr>
              <a:t>DFM — Training &amp;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flow_matching.py — dfm_loss / sample_dfm_cfg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64240" cy="10972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C21"/>
                </a:solidFill>
                <a:latin typeface="Malgun Gothic"/>
                <a:ea typeface="Malgun Gothic"/>
              </a:rPr>
              <a:t>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14016"/>
            <a:ext cx="5486400" cy="2569464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505456"/>
            <a:ext cx="5230368" cy="2386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t = torch.rand(B)               # U(0,1)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1) 조건부 경로에서 x_t 샘플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keep = torch.rand(B, D) &lt; t[:,None]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rnd  = torch.randint(0, 2, (B, D)).float()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x_t  = torch.where(keep, x1, rnd)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2) 깨끗한 x1 의 사후확률 예측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logits = model(x_t*2-1, t, y)   # R^100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3) BCE — 타겟은 원본 x1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loss = F.binary_cross_entropy_with_logits(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       logits, x1)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2103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C21"/>
                </a:solidFill>
                <a:latin typeface="Malgun Gothic"/>
                <a:ea typeface="Malgun Gothic"/>
              </a:rPr>
              <a:t>Sampling — CTMC 유한전이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2414016"/>
            <a:ext cx="5486400" cy="2569464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505456"/>
            <a:ext cx="5230368" cy="2386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x = torch.randint(0, 2, (B, D)).float()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for i in range(N):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t  = i / 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p1 = sigmoid(model(x*2-1, t, y))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r  = (p1&gt;.5) if last else (rand&lt;p1)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a  = 1 / (N - i)     # = (t'−t)/(1−t)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x  = torch.where(rand&lt;a, r, x)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return x.long()          # 이미 이진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1663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C21"/>
                </a:solidFill>
                <a:latin typeface="Malgun Gothic"/>
                <a:ea typeface="Malgun Gothic"/>
              </a:rPr>
              <a:t>입력 / 출력 — CFM 과의 대비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5486400"/>
          <a:ext cx="11064237" cy="1097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1122"/>
                <a:gridCol w="3028107"/>
                <a:gridCol w="3261039"/>
                <a:gridCol w="1164656"/>
                <a:gridCol w="2329313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/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입력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출력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Loss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Inference 끝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CFM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x_t ∈ R^100 (연속)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v ∈ R^100 velocity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MSE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thresholding 필요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DFM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x_t ∈ {0,1}^100 (이산)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sigmoid = p1|t(x1|x_t,y)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BCE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이미 이진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PATCHIFY · 그림으로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81C21"/>
                </a:solidFill>
                <a:latin typeface="Malgun Gothic"/>
                <a:ea typeface="Malgun Gothic"/>
              </a:rPr>
              <a:t>Patchify 를 그림으로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위: 픽셀을 묶어 토큰을 만드는 방법. 아래: 그로 인해 달라지는 점. 다음 장에서 코드와 함께 정리.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64240" cy="10972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03120"/>
            <a:ext cx="11064240" cy="841248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03120"/>
            <a:ext cx="11064240" cy="457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94560"/>
            <a:ext cx="10607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81C21"/>
                </a:solidFill>
                <a:latin typeface="Malgun Gothic"/>
                <a:ea typeface="Malgun Gothic"/>
              </a:rPr>
              <a:t>2×2 픽셀을 토큰 1 개로 묶는다  —  2×2 흑백 배치는 2⁴ = 16 가지 → 각 배치를 토큰 하나로 (vocab 16)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505456"/>
            <a:ext cx="329184" cy="329184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2505456"/>
            <a:ext cx="329184" cy="329184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834640"/>
            <a:ext cx="329184" cy="329184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2834640"/>
            <a:ext cx="329184" cy="329184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0753" y="2499969"/>
            <a:ext cx="669340" cy="669340"/>
          </a:xfrm>
          <a:prstGeom prst="rect">
            <a:avLst/>
          </a:prstGeom>
          <a:noFill/>
          <a:ln w="19050">
            <a:solidFill>
              <a:srgbClr val="A85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2651760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8818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0407" y="2551176"/>
            <a:ext cx="1097280" cy="457200"/>
          </a:xfrm>
          <a:prstGeom prst="rect">
            <a:avLst/>
          </a:prstGeom>
          <a:solidFill>
            <a:srgbClr val="F5E7DF"/>
          </a:solidFill>
          <a:ln w="12700">
            <a:solidFill>
              <a:srgbClr val="A85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0407" y="2551176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85933"/>
                </a:solidFill>
                <a:latin typeface="Malgun Gothic"/>
                <a:ea typeface="Malgun Gothic"/>
              </a:rPr>
              <a:t>토큰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7" y="303580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8818B"/>
                </a:solidFill>
                <a:latin typeface="Malgun Gothic"/>
                <a:ea typeface="Malgun Gothic"/>
              </a:rPr>
              <a:t>16 가지 중 하나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063240"/>
            <a:ext cx="5486400" cy="169164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154680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81C21"/>
                </a:solidFill>
                <a:latin typeface="Malgun Gothic"/>
                <a:ea typeface="Malgun Gothic"/>
              </a:rPr>
              <a:t>g=1 · 픽셀마다 확률  (4 장에서 본 방식)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3520440"/>
            <a:ext cx="365760" cy="365760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5204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81C21"/>
                </a:solidFill>
                <a:latin typeface="Consolas"/>
                <a:ea typeface="Consolas"/>
              </a:rPr>
              <a:t>0.90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520440"/>
            <a:ext cx="365760" cy="365760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5204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81C21"/>
                </a:solidFill>
                <a:latin typeface="Consolas"/>
                <a:ea typeface="Consolas"/>
              </a:rPr>
              <a:t>0.20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3886200"/>
            <a:ext cx="365760" cy="365760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8862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81C21"/>
                </a:solidFill>
                <a:latin typeface="Consolas"/>
                <a:ea typeface="Consolas"/>
              </a:rPr>
              <a:t>0.80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886200"/>
            <a:ext cx="365760" cy="365760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38862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81C21"/>
                </a:solidFill>
                <a:latin typeface="Consolas"/>
                <a:ea typeface="Consolas"/>
              </a:rPr>
              <a:t>0.70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3703320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8818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520440"/>
            <a:ext cx="365760" cy="36576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0" y="3520440"/>
            <a:ext cx="365760" cy="365760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77440" y="3886200"/>
            <a:ext cx="365760" cy="36576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0" y="3886200"/>
            <a:ext cx="365760" cy="36576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71953" y="3514953"/>
            <a:ext cx="742492" cy="742492"/>
          </a:xfrm>
          <a:prstGeom prst="rect">
            <a:avLst/>
          </a:prstGeom>
          <a:noFill/>
          <a:ln w="19050">
            <a:solidFill>
              <a:srgbClr val="A85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434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픽셀마다 확률을 정하고, 각 픽셀을 금속/빈칸으로 따로 뽑는다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6208" y="3063240"/>
            <a:ext cx="5486400" cy="169164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6208" y="3063240"/>
            <a:ext cx="5486400" cy="457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3154680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81C21"/>
                </a:solidFill>
                <a:latin typeface="Malgun Gothic"/>
                <a:ea typeface="Malgun Gothic"/>
              </a:rPr>
              <a:t>g=4 · 배치마다 확률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56248" y="4279392"/>
            <a:ext cx="91440" cy="1828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84264" y="4279392"/>
            <a:ext cx="91440" cy="1828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12280" y="4279392"/>
            <a:ext cx="91440" cy="1828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40296" y="4279392"/>
            <a:ext cx="91440" cy="1828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68312" y="4279392"/>
            <a:ext cx="91440" cy="1828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96328" y="4160520"/>
            <a:ext cx="91440" cy="137160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24344" y="4279392"/>
            <a:ext cx="91440" cy="1828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52360" y="4279392"/>
            <a:ext cx="91440" cy="1828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80375" y="4279392"/>
            <a:ext cx="91440" cy="1828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08392" y="4041648"/>
            <a:ext cx="91440" cy="256032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36408" y="4279392"/>
            <a:ext cx="91440" cy="1828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64424" y="4197096"/>
            <a:ext cx="91440" cy="100584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92440" y="4279392"/>
            <a:ext cx="91440" cy="1828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0456" y="3474720"/>
            <a:ext cx="91440" cy="82296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48472" y="4279392"/>
            <a:ext cx="91440" cy="1828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76488" y="3867912"/>
            <a:ext cx="91440" cy="429768"/>
          </a:xfrm>
          <a:prstGeom prst="rect">
            <a:avLst/>
          </a:prstGeom>
          <a:solidFill>
            <a:srgbClr val="788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83296" y="3273552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A85933"/>
                </a:solidFill>
                <a:latin typeface="Consolas"/>
                <a:ea typeface="Consolas"/>
              </a:rPr>
              <a:t>0.42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0224" y="35661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78818B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704" y="3429000"/>
            <a:ext cx="256032" cy="256032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17736" y="3429000"/>
            <a:ext cx="256032" cy="256032"/>
          </a:xfrm>
          <a:prstGeom prst="rect">
            <a:avLst/>
          </a:prstGeom>
          <a:solidFill>
            <a:srgbClr val="F5F7F8"/>
          </a:solidFill>
          <a:ln w="9525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61704" y="3685032"/>
            <a:ext cx="256032" cy="256032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317736" y="3685032"/>
            <a:ext cx="256032" cy="256032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01968" y="4434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16 가지 배치 전체에 확률을 정하고, 그중 하나를 통째로 뽑는다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4846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E464F"/>
                </a:solidFill>
                <a:latin typeface="Malgun Gothic"/>
                <a:ea typeface="Malgun Gothic"/>
              </a:rPr>
              <a:t>두 방법 모두 같은 배치가 나올 수 있다. 차이는 확률을 어디에 두는가다 — g=1 은 픽셀을 따로 뽑아 픽셀 사이 관계를 표현 못 하고, g=4 는 16 가지 배치에 직접 확률을 줘 그 관계를 담는다.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349240"/>
            <a:ext cx="5486400" cy="123444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" y="5440680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81C21"/>
                </a:solidFill>
                <a:latin typeface="Malgun Gothic"/>
                <a:ea typeface="Malgun Gothic"/>
              </a:rPr>
              <a:t>collision — 노이즈가 원래 값과 우연히 같을 확률</a:t>
            </a:r>
          </a:p>
        </p:txBody>
      </p:sp>
      <p:sp>
        <p:nvSpPr>
          <p:cNvPr id="66" name="Oval 65"/>
          <p:cNvSpPr/>
          <p:nvPr/>
        </p:nvSpPr>
        <p:spPr>
          <a:xfrm>
            <a:off x="1188720" y="5806440"/>
            <a:ext cx="640080" cy="640080"/>
          </a:xfrm>
          <a:prstGeom prst="ellipse">
            <a:avLst/>
          </a:prstGeom>
          <a:solidFill>
            <a:srgbClr val="F5F7F8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88720" y="58064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A85933"/>
                </a:solidFill>
                <a:latin typeface="Consolas"/>
                <a:ea typeface="Consolas"/>
              </a:rPr>
              <a:t>1/2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" y="5715000"/>
            <a:ext cx="7315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Malgun Gothic"/>
                <a:ea typeface="Malgun Gothic"/>
              </a:rPr>
              <a:t>V=2</a:t>
            </a:r>
          </a:p>
        </p:txBody>
      </p:sp>
      <p:sp>
        <p:nvSpPr>
          <p:cNvPr id="69" name="Oval 68"/>
          <p:cNvSpPr/>
          <p:nvPr/>
        </p:nvSpPr>
        <p:spPr>
          <a:xfrm>
            <a:off x="2743200" y="5806440"/>
            <a:ext cx="640080" cy="640080"/>
          </a:xfrm>
          <a:prstGeom prst="ellipse">
            <a:avLst/>
          </a:prstGeom>
          <a:solidFill>
            <a:srgbClr val="F5F7F8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0" y="58064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A85933"/>
                </a:solidFill>
                <a:latin typeface="Consolas"/>
                <a:ea typeface="Consolas"/>
              </a:rPr>
              <a:t>1/16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97480" y="5715000"/>
            <a:ext cx="73152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Malgun Gothic"/>
                <a:ea typeface="Malgun Gothic"/>
              </a:rPr>
              <a:t>V=16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40480" y="585216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묶을수록 낮아진다 → 노이즈를 줬을 때 실제로 더 많이 바뀐다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36208" y="5349240"/>
            <a:ext cx="5486400" cy="123444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19088" y="5440680"/>
            <a:ext cx="5120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81C21"/>
                </a:solidFill>
                <a:latin typeface="Malgun Gothic"/>
                <a:ea typeface="Malgun Gothic"/>
              </a:rPr>
              <a:t>노이징 단위 — 비트마다 vs 패치 통째로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66560" y="5852160"/>
            <a:ext cx="237744" cy="237744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04304" y="5852160"/>
            <a:ext cx="237744" cy="237744"/>
          </a:xfrm>
          <a:prstGeom prst="rect">
            <a:avLst/>
          </a:prstGeom>
          <a:solidFill>
            <a:srgbClr val="D5DADF"/>
          </a:solidFill>
          <a:ln w="9525">
            <a:solidFill>
              <a:srgbClr val="7881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66560" y="6089904"/>
            <a:ext cx="237744" cy="237744"/>
          </a:xfrm>
          <a:prstGeom prst="rect">
            <a:avLst/>
          </a:prstGeom>
          <a:solidFill>
            <a:srgbClr val="D5DADF"/>
          </a:solidFill>
          <a:ln w="9525">
            <a:solidFill>
              <a:srgbClr val="7881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04304" y="6089904"/>
            <a:ext cx="237744" cy="237744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29400" y="6336792"/>
            <a:ext cx="749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Malgun Gothic"/>
                <a:ea typeface="Malgun Gothic"/>
              </a:rPr>
              <a:t>비트마다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46720" y="5852160"/>
            <a:ext cx="166420" cy="1664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213140" y="5852160"/>
            <a:ext cx="166420" cy="1664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46720" y="6018580"/>
            <a:ext cx="166420" cy="1664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13140" y="6018580"/>
            <a:ext cx="166420" cy="1664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03920" y="58978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78818B"/>
                </a:solidFill>
                <a:latin typeface="Malgun Gothic"/>
                <a:ea typeface="Malgun Gothic"/>
              </a:rPr>
              <a:t>or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69680" y="5852160"/>
            <a:ext cx="166420" cy="166420"/>
          </a:xfrm>
          <a:prstGeom prst="rect">
            <a:avLst/>
          </a:prstGeom>
          <a:solidFill>
            <a:srgbClr val="D5DADF"/>
          </a:solidFill>
          <a:ln w="9525">
            <a:solidFill>
              <a:srgbClr val="7881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36100" y="5852160"/>
            <a:ext cx="166420" cy="166420"/>
          </a:xfrm>
          <a:prstGeom prst="rect">
            <a:avLst/>
          </a:prstGeom>
          <a:solidFill>
            <a:srgbClr val="D5DADF"/>
          </a:solidFill>
          <a:ln w="9525">
            <a:solidFill>
              <a:srgbClr val="7881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869680" y="6018580"/>
            <a:ext cx="166420" cy="166420"/>
          </a:xfrm>
          <a:prstGeom prst="rect">
            <a:avLst/>
          </a:prstGeom>
          <a:solidFill>
            <a:srgbClr val="D5DADF"/>
          </a:solidFill>
          <a:ln w="9525">
            <a:solidFill>
              <a:srgbClr val="7881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036100" y="6018580"/>
            <a:ext cx="166420" cy="166420"/>
          </a:xfrm>
          <a:prstGeom prst="rect">
            <a:avLst/>
          </a:prstGeom>
          <a:solidFill>
            <a:srgbClr val="D5DADF"/>
          </a:solidFill>
          <a:ln w="9525">
            <a:solidFill>
              <a:srgbClr val="7881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55280" y="633679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78818B"/>
                </a:solidFill>
                <a:latin typeface="Malgun Gothic"/>
                <a:ea typeface="Malgun Gothic"/>
              </a:rPr>
              <a:t>패치 통째로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APPROACH 2+ · VOCAB MERGING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81C21"/>
                </a:solidFill>
                <a:latin typeface="Malgun Gothic"/>
                <a:ea typeface="Malgun Gothic"/>
              </a:rPr>
              <a:t>Patchify — 픽셀을 묶어 vocab 을 키운다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DFM 을 V=2 로 그대로 쓰면 학습이 잘 되지 않는다. 원인은 collision 이다.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64240" cy="10972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03120"/>
            <a:ext cx="5486400" cy="228600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C21"/>
                </a:solidFill>
                <a:latin typeface="Malgun Gothic"/>
                <a:ea typeface="Malgun Gothic"/>
              </a:rPr>
              <a:t>문제 — collision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4203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E464F"/>
                </a:solidFill>
                <a:latin typeface="Malgun Gothic"/>
                <a:ea typeface="Malgun Gothic"/>
              </a:rPr>
              <a:t>uniform 재추출이 원래 값과 같을 확률이 1/V. 실제 flip 확률 = (1−t)·(V−1)/V.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8" y="3063240"/>
          <a:ext cx="5120638" cy="11704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06070"/>
                <a:gridCol w="1506070"/>
                <a:gridCol w="2108498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V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collision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t=0 실제 flip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0.500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 i="0">
                          <a:solidFill>
                            <a:srgbClr val="181C21"/>
                          </a:solidFill>
                          <a:latin typeface="Consolas"/>
                          <a:ea typeface="Consolas"/>
                        </a:rPr>
                        <a:t>0.500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16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0.063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0.938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1024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0.001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0.999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9808" y="40233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E464F"/>
                </a:solidFill>
                <a:latin typeface="Malgun Gothic"/>
                <a:ea typeface="Malgun Gothic"/>
              </a:rPr>
              <a:t>V=2 는 t=0 에서도 절반만 뒤집혀 gradient 가 잘 서지 않는다.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103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81C21"/>
                </a:solidFill>
                <a:latin typeface="Malgun Gothic"/>
                <a:ea typeface="Malgun Gothic"/>
              </a:rPr>
              <a:t>해법 — 2×2 패치를 1 토큰으로 (g=4, V=16)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414016"/>
            <a:ext cx="5486400" cy="1975104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505456"/>
            <a:ext cx="5230368" cy="1792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2×2 공간 패치로 재배열 후 묶는다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fwd, inv = make_spatial_patch_indices(H,W,2,2)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X = X[:, fwd]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tok = bits_to_tokens(x1, group_size=4)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노이징: 토큰 단위 uniform 재추출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tok_t = torch.where(keep, tok,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      torch.randint(0,16,(B,T)))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8818B"/>
                </a:solidFill>
                <a:latin typeface="Consolas"/>
                <a:ea typeface="Consolas"/>
              </a:rPr>
              <a:t># Loss: BCE → Cross-entropy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loss = F.cross_entropy(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model(tok_t,t,y).reshape(-1,16),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C21"/>
                </a:solidFill>
                <a:latin typeface="Consolas"/>
                <a:ea typeface="Consolas"/>
              </a:rPr>
              <a:t>    tok.reshape(-1))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572000"/>
            <a:ext cx="3566160" cy="123444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572000"/>
            <a:ext cx="3566160" cy="457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68172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1C21"/>
                </a:solidFill>
                <a:latin typeface="Malgun Gothic"/>
                <a:ea typeface="Malgun Gothic"/>
              </a:rPr>
              <a:t>1 · 출력 형태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01091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g=1 은 비트별 베르누이 100 개(독립). g=4 는 토큰당 16-way categorical 로 묶인 4 비트의 결합분포를 표현.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4572000"/>
            <a:ext cx="3566160" cy="123444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4528" y="4572000"/>
            <a:ext cx="3566160" cy="457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0832" y="468172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1C21"/>
                </a:solidFill>
                <a:latin typeface="Malgun Gothic"/>
                <a:ea typeface="Malgun Gothic"/>
              </a:rPr>
              <a:t>2 · collision (측정됨)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501091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1/2 → 1/16 로 낮아진다. t=0 실제 flip 0.500 → 0.938. 07-05 의 V=2 학습 부진과 직접 연결.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2127" y="4572000"/>
            <a:ext cx="3566160" cy="123444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82127" y="4572000"/>
            <a:ext cx="3566160" cy="457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1" y="468172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1C21"/>
                </a:solidFill>
                <a:latin typeface="Malgun Gothic"/>
                <a:ea typeface="Malgun Gothic"/>
              </a:rPr>
              <a:t>3 · 노이징 단위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501091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g=1 은 비트마다 독립 → 패치 유지확률 t⁴. g=4 는 토큰 단위 → t. 유지/교체가 패치 단위로 일어난다.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RESULTS ·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81C21"/>
                </a:solidFill>
                <a:latin typeface="Malgun Gothic"/>
                <a:ea typeface="Malgun Gothic"/>
              </a:rPr>
              <a:t>학습 곡선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동일 백본 (Stable3DiT 76.8M · L=15 · d=512 · nhead=4 · dim_ff=768), 500 epochs · bs=128 · lr=1e-4.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64240" cy="10972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03120"/>
            <a:ext cx="5486400" cy="2926080"/>
          </a:xfrm>
          <a:prstGeom prst="rect">
            <a:avLst/>
          </a:prstGeom>
          <a:solidFill>
            <a:srgbClr val="F5F7F8"/>
          </a:solidFill>
          <a:ln w="12700">
            <a:solidFill>
              <a:srgbClr val="D5DA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200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wandb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52044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E464F"/>
                </a:solidFill>
                <a:latin typeface="Malgun Gothic"/>
                <a:ea typeface="Malgun Gothic"/>
              </a:rPr>
              <a:t>train / val loss — CFM (MSE) · DFM V=2 (BCE) · DFM V=16 (CE)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103120"/>
            <a:ext cx="5486400" cy="2926080"/>
          </a:xfrm>
          <a:prstGeom prst="rect">
            <a:avLst/>
          </a:prstGeom>
          <a:solidFill>
            <a:srgbClr val="F5F7F8"/>
          </a:solidFill>
          <a:ln w="12700">
            <a:solidFill>
              <a:srgbClr val="D5DA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3200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wandb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352044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E464F"/>
                </a:solidFill>
                <a:latin typeface="Malgun Gothic"/>
                <a:ea typeface="Malgun Gothic"/>
              </a:rPr>
              <a:t>val BitAcc / PatAcc — patchify (V=16) 의 효과가 드러나는 지점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212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Malgun Gothic"/>
                <a:ea typeface="Malgun Gothic"/>
              </a:rPr>
              <a:t>CFG 용 체크포인트는 drop_prob 0.1 (조건을 10% 확률로 drop 해 uncond 도 함께 학습), 비교군은 0.0.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RESULTS ·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81C21"/>
                </a:solidFill>
                <a:latin typeface="Malgun Gothic"/>
                <a:ea typeface="Malgun Gothic"/>
              </a:rPr>
              <a:t>평가 결과 — DFM + patchify 가 AR 을 앞선다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주 지표는 notch-region MSE (논문 저자 코드). 공진 test 2,000 타겟, cfg=1.0, FM steps=10. notch MSE·valid@10 은 best-of-10, BitAcc·PatAcc 는 pass@1.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64240" cy="10972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03120"/>
          <a:ext cx="11064236" cy="1920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05110"/>
                <a:gridCol w="1461314"/>
                <a:gridCol w="1774453"/>
                <a:gridCol w="1774453"/>
                <a:gridCol w="2087592"/>
                <a:gridCol w="146131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모델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NFE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BitAcc↑ (sanity)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PatAcc↑ (sanity)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notch MSE↓ (주 지표)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valid@10↑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AR (snake)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81C21"/>
                          </a:solidFill>
                          <a:latin typeface="Consolas"/>
                          <a:ea typeface="Consolas"/>
                        </a:rPr>
                        <a:t>100 순차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0.539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81C21"/>
                          </a:solidFill>
                          <a:latin typeface="Consolas"/>
                          <a:ea typeface="Consolas"/>
                        </a:rPr>
                        <a:t>39.60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F6B45"/>
                          </a:solidFill>
                          <a:latin typeface="Consolas"/>
                          <a:ea typeface="Consolas"/>
                        </a:rPr>
                        <a:t>0.633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CFM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10 병렬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0.730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0.005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60.64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0.398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DFM V=2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10 병렬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0.809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F6B45"/>
                          </a:solidFill>
                          <a:latin typeface="Consolas"/>
                          <a:ea typeface="Consolas"/>
                        </a:rPr>
                        <a:t>0.141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44.98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0.517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DFM V=16 (patchify)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81C21"/>
                          </a:solidFill>
                          <a:latin typeface="Consolas"/>
                          <a:ea typeface="Consolas"/>
                        </a:rPr>
                        <a:t>10 병렬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F6B45"/>
                          </a:solidFill>
                          <a:latin typeface="Consolas"/>
                          <a:ea typeface="Consolas"/>
                        </a:rPr>
                        <a:t>0.831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0.115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2F6B45"/>
                          </a:solidFill>
                          <a:latin typeface="Consolas"/>
                          <a:ea typeface="Consolas"/>
                        </a:rPr>
                        <a:t>36.53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0.591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931920"/>
            <a:ext cx="3566160" cy="118872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931920"/>
            <a:ext cx="3566160" cy="457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0416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1C21"/>
                </a:solidFill>
                <a:latin typeface="Malgun Gothic"/>
                <a:ea typeface="Malgun Gothic"/>
              </a:rPr>
              <a:t>1 · DFM V=16 이 AR 을 앞선다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370832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notch MSE 36.53 vs 39.60 — DFM 이 낮다. AR 은 100 회 순차, DFM 은 10 회 병렬. guidance 없이 얻은 결과.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3931920"/>
            <a:ext cx="3566160" cy="118872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3931920"/>
            <a:ext cx="3566160" cy="4572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40416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1C21"/>
                </a:solidFill>
                <a:latin typeface="Malgun Gothic"/>
                <a:ea typeface="Malgun Gothic"/>
              </a:rPr>
              <a:t>2 · V=2 와 V=16 의 차이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4370832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V=2 는 44.98, V=16 은 36.53. V=2 는 AR(39.60)도 넘지 못한다. collision 의 영향이 성능차로.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3931920"/>
            <a:ext cx="3566160" cy="1188720"/>
          </a:xfrm>
          <a:prstGeom prst="rect">
            <a:avLst/>
          </a:prstGeom>
          <a:solidFill>
            <a:srgbClr val="F5F7F8"/>
          </a:solidFill>
          <a:ln w="9525">
            <a:solidFill>
              <a:srgbClr val="E6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7" y="3931920"/>
            <a:ext cx="3566160" cy="45720"/>
          </a:xfrm>
          <a:prstGeom prst="rect">
            <a:avLst/>
          </a:prstGeom>
          <a:solidFill>
            <a:srgbClr val="25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40416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81C21"/>
                </a:solidFill>
                <a:latin typeface="Malgun Gothic"/>
                <a:ea typeface="Malgun Gothic"/>
              </a:rPr>
              <a:t>3 · CFM (이산성 우회)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4370832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E464F"/>
                </a:solidFill>
                <a:latin typeface="Malgun Gothic"/>
                <a:ea typeface="Malgun Gothic"/>
              </a:rPr>
              <a:t>가장 높다 (60.64). 연속으로 풀고 thresholding 으로 되돌리는 손해. DFM 은 이산 유지.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257800"/>
            <a:ext cx="11064240" cy="1051560"/>
          </a:xfrm>
          <a:prstGeom prst="rect">
            <a:avLst/>
          </a:prstGeom>
          <a:solidFill>
            <a:srgbClr val="F5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257800"/>
            <a:ext cx="45720" cy="1051560"/>
          </a:xfrm>
          <a:prstGeom prst="rect">
            <a:avLst/>
          </a:prstGeom>
          <a:solidFill>
            <a:srgbClr val="A85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385816"/>
            <a:ext cx="10698480" cy="832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3E464F"/>
                </a:solidFill>
                <a:latin typeface="Malgun Gothic"/>
                <a:ea typeface="Malgun Gothic"/>
              </a:rPr>
              <a:t>지표 참고. notch MSE 는 공진 구간에서만 잰 MSE (test 타겟의 74% 는 공진 없음). 지표 정의·코드는 논문을 따랐으나 측정 대상과 후보 예산(best-of-10)이 논문과 달라 논문 절대값(56.01)과 직접 비교 아님 — 목적은 AR vs FM 상대 비교.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78818B"/>
                </a:solidFill>
                <a:latin typeface="Malgun Gothic"/>
                <a:ea typeface="Malgun Gothic"/>
              </a:rPr>
              <a:t>valid@10 은 AR 이 약간 높다(0.633 vs 0.591) — 다양성은 AR 이 넓지만 best 후보 품질(notch MSE)은 DFM 이 앞선다. BitAcc·PatAcc 는 GT 일치율이라 one-to-many 에서 대안해를 벌주는 sanity 지표. AR 은 실제 100 스텝 생성으로 평가.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RESULTS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81C21"/>
                </a:solidFill>
                <a:latin typeface="Malgun Gothic"/>
                <a:ea typeface="Malgun Gothic"/>
              </a:rPr>
              <a:t>스텝 수에 따른 후보 다양성과 notch MSE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657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8818B"/>
                </a:solidFill>
                <a:latin typeface="Consolas"/>
                <a:ea typeface="Consolas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16736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E464F"/>
                </a:solidFill>
                <a:latin typeface="Malgun Gothic"/>
                <a:ea typeface="Malgun Gothic"/>
              </a:rPr>
              <a:t>DFM V=16, guidance 없음 (cfg = 1.0), 공진 test 2,000 타겟, best-of-10.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64240" cy="10972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03120"/>
          <a:ext cx="11064237" cy="24140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34253"/>
                <a:gridCol w="1946486"/>
                <a:gridCol w="1844039"/>
                <a:gridCol w="1229360"/>
                <a:gridCol w="1229360"/>
                <a:gridCol w="2048933"/>
                <a:gridCol w="1331806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NFE (steps)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평균 Hamming 거리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서로 다른 후보 / 10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BitAcc↑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PatAcc↑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notch MSE↓ (주 지표)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78818B"/>
                          </a:solidFill>
                          <a:latin typeface="Consolas"/>
                          <a:ea typeface="Consolas"/>
                        </a:rPr>
                        <a:t>valid@10↑</a:t>
                      </a:r>
                    </a:p>
                  </a:txBody>
                  <a:tcPr marL="76200" marR="76200" marT="25400" marB="25400" anchor="b">
                    <a:solidFill>
                      <a:srgbClr val="FFFFFF"/>
                    </a:solidFill>
                    <a:lnB w="12700" cap="flat">
                      <a:solidFill>
                        <a:srgbClr val="D5DADF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81C21"/>
                          </a:solidFill>
                          <a:latin typeface="Malgun Gothic"/>
                          <a:ea typeface="Malgun Gothic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1.5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3.5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0.871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0.324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181C21"/>
                          </a:solidFill>
                          <a:latin typeface="Consolas"/>
                          <a:ea typeface="Consolas"/>
                        </a:rPr>
                        <a:t>58.68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0.429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10.2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8.0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0.850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0.182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36.06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0.590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13.3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8.7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0.837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0.134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35.62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0.593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14.6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9.0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0.831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0.115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36.53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0.591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E464F"/>
                          </a:solidFill>
                          <a:latin typeface="Malgun Gothic"/>
                          <a:ea typeface="Malgun Gothic"/>
                        </a:rPr>
                        <a:t>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14.8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9.1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0.831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0.108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36.42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i="0">
                          <a:solidFill>
                            <a:srgbClr val="3E464F"/>
                          </a:solidFill>
                          <a:latin typeface="Consolas"/>
                          <a:ea typeface="Consolas"/>
                        </a:rPr>
                        <a:t>0.604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B w="9525" cap="flat">
                      <a:solidFill>
                        <a:srgbClr val="E6EAE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7548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78818B"/>
                </a:solidFill>
                <a:latin typeface="Malgun Gothic"/>
                <a:ea typeface="Malgun Gothic"/>
              </a:rPr>
              <a:t>Hamming 거리 = 같은 타겟에 대해 생성한 후보 10 개가 서로 평균 몇 비트 다른가 (100 비트 중). 9 장의 결과는 steps = 10 에서 잰 값이다.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